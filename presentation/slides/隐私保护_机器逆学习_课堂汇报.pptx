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6781f004c4467" /><Relationship Type="http://schemas.openxmlformats.org/officeDocument/2006/relationships/extended-properties" Target="/docProps/app.xml" Id="R580710362d1048e2" /><Relationship Type="http://schemas.openxmlformats.org/officeDocument/2006/relationships/officeDocument" Target="/ppt/presentation.xml" Id="Rd3aa7b7ba230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a601708284999"/>
  </p:sldMasterIdLst>
  <p:notesMasterIdLst>
    <p:notesMasterId xmlns:r="http://schemas.openxmlformats.org/officeDocument/2006/relationships" r:id="R251899b56d074de8"/>
  </p:notesMasterIdLst>
  <p:sldIdLst>
    <p:sldId xmlns:r="http://schemas.openxmlformats.org/officeDocument/2006/relationships" id="256" r:id="R317ab2dd6347491e"/>
    <p:sldId xmlns:r="http://schemas.openxmlformats.org/officeDocument/2006/relationships" id="257" r:id="Rb1eb86eca08d4a1b"/>
    <p:sldId xmlns:r="http://schemas.openxmlformats.org/officeDocument/2006/relationships" id="258" r:id="Ra55d98159b9744ab"/>
    <p:sldId xmlns:r="http://schemas.openxmlformats.org/officeDocument/2006/relationships" id="259" r:id="Rd9ceeecd2e58425e"/>
    <p:sldId xmlns:r="http://schemas.openxmlformats.org/officeDocument/2006/relationships" id="260" r:id="R1d7f7ad180e24ee4"/>
    <p:sldId xmlns:r="http://schemas.openxmlformats.org/officeDocument/2006/relationships" id="261" r:id="R012d5037b659479c"/>
    <p:sldId xmlns:r="http://schemas.openxmlformats.org/officeDocument/2006/relationships" id="262" r:id="R899fe5eb48e241ab"/>
    <p:sldId xmlns:r="http://schemas.openxmlformats.org/officeDocument/2006/relationships" id="263" r:id="Rd6f7693361f844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352ac378a4620" /><Relationship Type="http://schemas.openxmlformats.org/officeDocument/2006/relationships/slideMaster" Target="/ppt/slideMasters/slideMaster1.xml" Id="R040a601708284999" /><Relationship Type="http://schemas.openxmlformats.org/officeDocument/2006/relationships/notesMaster" Target="/ppt/notesMasters/notesMaster1.xml" Id="R251899b56d074de8" /><Relationship Type="http://schemas.openxmlformats.org/officeDocument/2006/relationships/presProps" Target="/ppt/presProps.xml" Id="R1476d046ece94cea" /><Relationship Type="http://schemas.openxmlformats.org/officeDocument/2006/relationships/tableStyles" Target="/ppt/tableStyles.xml" Id="R97f684341578480a" /><Relationship Type="http://schemas.openxmlformats.org/officeDocument/2006/relationships/slide" Target="/ppt/slides/slide1.xml" Id="R317ab2dd6347491e" /><Relationship Type="http://schemas.openxmlformats.org/officeDocument/2006/relationships/slide" Target="/ppt/slides/slide2.xml" Id="Rb1eb86eca08d4a1b" /><Relationship Type="http://schemas.openxmlformats.org/officeDocument/2006/relationships/slide" Target="/ppt/slides/slide3.xml" Id="Ra55d98159b9744ab" /><Relationship Type="http://schemas.openxmlformats.org/officeDocument/2006/relationships/slide" Target="/ppt/slides/slide4.xml" Id="Rd9ceeecd2e58425e" /><Relationship Type="http://schemas.openxmlformats.org/officeDocument/2006/relationships/slide" Target="/ppt/slides/slide5.xml" Id="R1d7f7ad180e24ee4" /><Relationship Type="http://schemas.openxmlformats.org/officeDocument/2006/relationships/slide" Target="/ppt/slides/slide6.xml" Id="R012d5037b659479c" /><Relationship Type="http://schemas.openxmlformats.org/officeDocument/2006/relationships/slide" Target="/ppt/slides/slide7.xml" Id="R899fe5eb48e241ab" /><Relationship Type="http://schemas.openxmlformats.org/officeDocument/2006/relationships/slide" Target="/ppt/slides/slide8.xml" Id="Rd6f7693361f8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71265853e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e83c60d0ba4000" /><Relationship Type="http://schemas.openxmlformats.org/officeDocument/2006/relationships/notesMaster" Target="/ppt/notesMasters/notesMaster1.xml" Id="Rc025b20fca42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084bf006549fb" /><Relationship Type="http://schemas.openxmlformats.org/officeDocument/2006/relationships/notesMaster" Target="/ppt/notesMasters/notesMaster1.xml" Id="R96cd91a226f7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648328985541fd" /><Relationship Type="http://schemas.openxmlformats.org/officeDocument/2006/relationships/notesMaster" Target="/ppt/notesMasters/notesMaster1.xml" Id="R127c7fd2290c4b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146fba47424355" /><Relationship Type="http://schemas.openxmlformats.org/officeDocument/2006/relationships/notesMaster" Target="/ppt/notesMasters/notesMaster1.xml" Id="R5bca5b73714d4b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6145773f2c4cd8" /><Relationship Type="http://schemas.openxmlformats.org/officeDocument/2006/relationships/notesMaster" Target="/ppt/notesMasters/notesMaster1.xml" Id="R900cf168fdc84f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7c0f63b9e43ef" /><Relationship Type="http://schemas.openxmlformats.org/officeDocument/2006/relationships/notesMaster" Target="/ppt/notesMasters/notesMaster1.xml" Id="R597e555d57634b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036f6f3c84928" /><Relationship Type="http://schemas.openxmlformats.org/officeDocument/2006/relationships/notesMaster" Target="/ppt/notesMasters/notesMaster1.xml" Id="R5bb60fb87d03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d6f5a54f294057" /><Relationship Type="http://schemas.openxmlformats.org/officeDocument/2006/relationships/notesMaster" Target="/ppt/notesMasters/notesMaster1.xml" Id="R3fe9f7aea6bd4b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开场明确：不是做隐私计算方向，而是课程资料里的隐私保护方向；明天重点讲研究设计，不伪造实验结果。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用金融场景解释意义：交易、画像、风险偏好都可能进入模型。逆学习的价值是让模型层面可删除、可审计。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强调选择依据来自 final/2026隐私保护大作业，不再说隐私计算。说明这个方向已有代码和明确 TODO，适合做成研究报告。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这里把问题讲清楚：Gold model 是删除后重训的参照。逆学习不是乱改模型，而是用更低成本逼近这个参照。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这页说明工作路径：先复现 Amnesiac 和 Bad Teacher，再补 MIA/ZRF 指标，最后做 Retain-Aware Bad Teacher 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把方法讲成直观逻辑：forget set 仍按 Bad Teacher 去随机化，retain set 额外用真实标签锚定，减少遗忘外溢。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这页讲清楚最终报告的实验表怎么来。不要说已有结果，只说将比较哪些对象、用哪些指标评价。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收束到三个最终交付，让老师知道这个题不是泛泛而谈，而是有代码入口、指标入口和可验证改进点。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7ce185ce24d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e884d7fdf4525" /><Relationship Type="http://schemas.openxmlformats.org/officeDocument/2006/relationships/slideLayout" Target="/ppt/slideLayouts/slideLayout1.xml" Id="R950d1967bf2847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d1967bf2847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71073e56e44f5" /><Relationship Type="http://schemas.openxmlformats.org/officeDocument/2006/relationships/notesSlide" Target="/ppt/notesSlides/notesSlide1.xml" Id="R92027b53ff2d48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240c1fe3f4433" /><Relationship Type="http://schemas.openxmlformats.org/officeDocument/2006/relationships/notesSlide" Target="/ppt/notesSlides/notesSlide2.xml" Id="Re7c9c1350c8e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c6329124a4402" /><Relationship Type="http://schemas.openxmlformats.org/officeDocument/2006/relationships/notesSlide" Target="/ppt/notesSlides/notesSlide3.xml" Id="R09b097a10432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855f4cebe47fd" /><Relationship Type="http://schemas.openxmlformats.org/officeDocument/2006/relationships/notesSlide" Target="/ppt/notesSlides/notesSlide4.xml" Id="R4b8aa1741140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36ad133b84a42" /><Relationship Type="http://schemas.openxmlformats.org/officeDocument/2006/relationships/notesSlide" Target="/ppt/notesSlides/notesSlide5.xml" Id="Re7644390aeea42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2930963d64852" /><Relationship Type="http://schemas.openxmlformats.org/officeDocument/2006/relationships/notesSlide" Target="/ppt/notesSlides/notesSlide6.xml" Id="R7ebb316dcc7f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83df10617453a" /><Relationship Type="http://schemas.openxmlformats.org/officeDocument/2006/relationships/notesSlide" Target="/ppt/notesSlides/notesSlide7.xml" Id="Rb8409612a188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c0d178ee5477d" /><Relationship Type="http://schemas.openxmlformats.org/officeDocument/2006/relationships/notesSlide" Target="/ppt/notesSlides/notesSlide8.xml" Id="Rb7ac8d1047f3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325E0-3DED-47DA-AF88-E7361D4E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7CB8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34DF6-F759-4904-AEA6-F8BBC7CB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F99"/>
                </a:solidFill>
              </a:defRPr>
            </a:pPr>
            <a:r>
              <a:rPr sz="1200" b="1">
                <a:solidFill>
                  <a:srgbClr val="1F5F99"/>
                </a:solidFill>
              </a:rPr>
              <a:t>方向：隐私保护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5A2CF-A915-458A-956C-19393FD7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面向图像分类模型的机器逆学习</a:t>
            </a:r>
          </a:p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方法复现、隐私评估与改进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8207F-22F8-4530-84E6-12957DF9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课堂汇报：复现 Amnesiac/Bad Teacher，提出 Retain-Aware 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D61D9-4F55-40D9-8DE3-347A9113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B3039-84C2-4B17-94E9-D43C5EF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Forget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Retain</a:t>
            </a:r>
          </a:p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Gold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906E2-2E30-44CC-82C0-1EBF7930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低成本删除指定数据影响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133CF-0C9B-450E-A233-8B0A782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297C2-28EA-4CCC-B19B-DC84FB83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12591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2DB1F-07DE-4B9A-BB16-5EBAB90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为什么金融模型需要“忘记”数据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6523-4E74-4998-8E9F-752DF40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710EE-97B2-457A-8E33-477AF9AF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用户撤回授权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4FC8-0298-4E47-877E-6B4D3DE3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用户要求删除数据，模型也应降低对这些数据的依赖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68A0D-F31D-4751-B573-3BADFD8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C0B72-90A6-4CA7-9A09-A823BFD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错误或违规数据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4C357-5581-46D4-A7C3-5E6E4B0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训练集中发现问题样本后，需要修正模型行为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87370-B56B-461F-9468-3F9DDF5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5374A-A27E-4FED-AB5B-8F052C3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合规与审计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95145-EBF9-4A5B-B210-E0A1356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模型更新应能解释：删了什么、影响是否消除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0E000-E72B-484A-B97C-531DF23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F99"/>
                </a:solidFill>
              </a:defRPr>
            </a:pPr>
            <a:r>
              <a:rPr sz="1950" b="1">
                <a:solidFill>
                  <a:srgbClr val="1F5F99"/>
                </a:solidFill>
              </a:rPr>
              <a:t>关键问题：删除原始记录，不等于删除模型参数中的影响。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A21E4-9B27-453C-8877-CB0D0546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5B3C0-A0F7-4168-AA71-1D3E0BF6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22319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31CB7-1B73-406D-A9A7-EE6FF5B2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资料支持这个选题能快速落地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F6CBB-C6AF-4B36-8689-306AB50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作业方向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817A4-DA3D-43A8-813C-E2324778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716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B8DCC-9D5A-49C2-9545-FD95D661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方向二：针对图像分类模型的机器逆学习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752A0-56DF-46AB-91D9-C7981408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已有代码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91BE4-4BB1-46AF-A9E3-901290F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47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A09CB-5777-46EC-B4D3-8F3DE1C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CIFAR100 Super20、ResNet18、Amnesiac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4FEB3-9336-41DB-A578-C24CBEF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已推进点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F5DA0-F6D1-431A-9600-51B210F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7CB8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53FC5-3664-4428-AD05-76000A2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Bad Teacher、Retain-Aware BT、MIA、ZRF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3ADF0-AB30-4429-BD63-F136886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明天汇报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707C8-9159-4322-988B-F68DC702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0F4D3-CDE2-4049-8412-883BB1F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讲问题、方法、指标、改进和实验计划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D0295-DD74-4A32-A55E-12215FEB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10FF1-776C-4F4F-9CC9-48C40D6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7174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B10FF-6565-4D8C-9AED-E51D6F0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研究问题：接近 Gold model，而不是简单让准确率归零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37B25-4FB7-46D3-A251-1CF5B42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29383-A3B7-46A6-BCB6-65A5E2EE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Original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B8D02-787A-490B-B3A8-CFF35AE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全量数据训练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含 forget data 影响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D49B-7D5A-4546-9A44-284C66B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3A691-9DE9-4098-9992-9E68D2B6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Unlearning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2A149-4C9B-49DF-8AB7-97109EA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低成本更新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删除指定影响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A9E16-7998-4277-9A4C-6B77B491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708C1-8088-4B2A-B382-AEB7A402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Gold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BA3AD-46B6-49B3-A519-9A58040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删除后重训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理想参照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B8AE2-BCB2-4ECC-BA7A-0F6518F8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48054-7326-4D40-B76B-CC881C0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33625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CF210-1D26-496E-AAB1-11F36A1D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评价标准：forget set 上接近 Gold，retain set 上接近 Original。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F09E1-94BD-4A8C-AF0E-F366B0CE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这能避免把“遗忘”误解成盲目降低所有相关预测能力。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0DEBE-0C6C-4CC5-A1EB-6FA8361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456B8-17A7-47A1-9587-9D29014D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5867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0B322-94EC-4E29-B43A-09F2809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先复现，再改进：两条 baseline 给出参照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499AD-CE58-421B-8069-4EC0944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F2BDC-78C2-4A56-B63A-8EDD5363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Amnesiac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CCB19-9351-4DA6-B3BA-A0542D26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思路：抵消目标数据带来的训练影响</a:t>
            </a:r>
          </a:p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作用：课程 notebook 中已有测试入口</a:t>
            </a:r>
          </a:p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输出：作为第一组可复现实验结果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4B834-58AA-4F80-A5AA-3B49448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59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7CB8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EDFF4-1C40-4F89-BC61-41DDE4B3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Bad Teacher / Blindspot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8810F-69B8-44BC-9CA2-4FE45F5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思路：保留数据模仿原教师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遗忘数据模仿无效教师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输出：双教师 KL 蒸馏训练逻辑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90997-2B48-460F-9B5A-68AB2A1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5F99"/>
                </a:solidFill>
              </a:defRPr>
            </a:pPr>
            <a:r>
              <a:rPr sz="2100" b="1">
                <a:solidFill>
                  <a:srgbClr val="1F5F99"/>
                </a:solidFill>
              </a:rPr>
              <a:t>我的方法在 Bad Teacher 上做轻量可解释改进。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8DF9C-1865-4F4A-AA8B-34210F4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59A0C-5707-44F5-98EB-E1FBA97E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8343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80EF0-93D0-47DE-929D-D881D047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改进方法：Retain-Aware Bad Teacher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070A0-449A-4C11-ACC2-B08E4F7F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4151"/>
                </a:solidFill>
              </a:defRPr>
            </a:pPr>
            <a:r>
              <a:rPr sz="1875" b="0">
                <a:solidFill>
                  <a:srgbClr val="374151"/>
                </a:solidFill>
              </a:rPr>
              <a:t>普通 Bad Teacher 的不足：保留数据只靠软标签蒸馏，可能损伤保留类别边界。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29063-223C-4E87-86A9-6C6FB6ED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6C67-FDFD-425D-99D6-EE987C7A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Forget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232B-F437-4EE7-A355-ACFBDE4C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1069A-83EC-4468-AF71-5AF7C0D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模仿随机初始化的无能教师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72792-E79C-401D-A597-2520A972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7CB8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C4C76-1BFE-47B4-B87A-64F68497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F99"/>
                </a:solidFill>
              </a:defRPr>
            </a:pPr>
            <a:r>
              <a:rPr sz="1875" b="1">
                <a:solidFill>
                  <a:srgbClr val="1F5F99"/>
                </a:solidFill>
              </a:rPr>
              <a:t>加强遗忘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EE142-060E-4409-A3E7-3F806F0A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1DCF5-7567-4E20-9563-BCD4A2C3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Retain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709F7-BED0-4E82-A8D1-F3F4245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CF4E8-295D-427E-A114-755B1849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模仿原教师，同时加入真实标签 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FF58B-FFE0-4F23-8857-760589C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7CB8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7F443-A7A4-4FEF-B22A-1CC92BBD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F99"/>
                </a:solidFill>
              </a:defRPr>
            </a:pPr>
            <a:r>
              <a:rPr sz="1875" b="1">
                <a:solidFill>
                  <a:srgbClr val="1F5F99"/>
                </a:solidFill>
              </a:rPr>
              <a:t>保留能力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4F7D9-5F4C-4A8A-B602-F870F72B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总损失：L_total = L_KD + λ · CE(student(retain), y_true)。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C7EEC-340E-4ACF-AC80-698A8CFB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25EB6-248B-4383-98C5-BB2F0B92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2694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6573D-A611-4441-B44E-D04354D0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实验看两件事：是否忘得掉，是否保得住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ABA9-0754-4E22-B858-936C3F13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5B0CC-9CA1-40F1-B90B-632367E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63418-E54E-4893-8046-07CD086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33350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CE85E-200D-42C0-B9EB-1A49D0C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668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97A48-5AFC-43DA-A4F7-31F2D02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3B859-CE30-4487-B7A4-78D731C6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98DE-3262-4318-A10E-3F4E19B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B66D7-3349-4E25-BE07-42C251A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FA4EF-09AC-437B-B5C9-AE3026E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478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ACB80-A995-4640-B674-FB206F3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193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全量训练模型，作为逆学习起点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40225-E301-489E-B385-62D1C163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8D7F0-7351-4F51-AD6C-3D4F01E8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retain acc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9CC54-0183-405F-86A3-141F9C3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A7377-1C26-4DE7-AFE0-AAC6B58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Gold retrain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523A3-DC4B-4047-AE65-D919471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383AB-6D20-44CC-9E48-E15E5AA4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删除 forget set 后重训，作为理想参照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4DA29-5FA6-460D-9321-3141242C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CC45D-C622-4EE8-9EA8-0328432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JS distance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10EEF-0F69-4D29-A042-01360B8B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C1BA1-FC18-41BB-803E-C1762B0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Amnesiac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68A6C-29CD-4E8A-968E-A77E433D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AB595-D427-45E9-86C0-377538B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课程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86F7C-2847-4E5C-9CA7-904F6092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0157F-9E06-45BC-9502-B1AFFFC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forget acc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31B0B-FF99-448F-A344-19299E6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1FED4-ADAC-445E-BC22-C0E1290F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Bad Teacher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8A4D1-0AC7-495E-A7A3-ECEAE627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7A426-10B6-485E-BFD7-DE769E11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复现方法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9F22F-C04A-4B17-91D0-1FA90D6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A3674-C896-477A-96F9-1591E5E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forget + retain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5FD7E9-366F-40BD-9CE4-71C0CBC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7D3795-98B2-4AF9-BDA6-DACE34B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Ours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19A1C-09F8-4303-B940-30478729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9AED8-7A10-4275-9592-023AEF4B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Retain-Aware Bad Teacher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3F4BE-2A61-4027-A352-19B89A4C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09F7E2-1127-41AE-B281-65D4F80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综合表现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379044-9085-4B84-AA32-59AE607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F99"/>
                </a:solidFill>
              </a:defRPr>
            </a:pPr>
            <a:r>
              <a:rPr sz="1800" b="1">
                <a:solidFill>
                  <a:srgbClr val="1F5F99"/>
                </a:solidFill>
              </a:rPr>
              <a:t>新增指标：MIA 衡量隐私泄露，ZRF 衡量与随机教师的接近度。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DBA207-0E14-44FE-ACD5-9242247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362F8-EC2C-4E37-B161-D6E29E89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69693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DC4DC-F9E7-4DF3-A927-781B58A4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最终交付：方法复现、隐私指标、保留锚定改进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A9252-DE63-4A44-9866-18FF18E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5653-7D4B-4C8C-926B-C89D256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1D26-BCE5-4B2F-9DF1-F120DB5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19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复现 Amnesiac 与 Bad Teacher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07470-4DE5-4CE1-8EA7-D55418AE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383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形成可对比的逆学习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94C19-5B6F-48C0-8487-58C2CBDE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5E42D-5936-4869-AB78-252887F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019EF-40DB-464E-B274-4D0A4438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加入 MIA 与 ZRF 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C202B-997B-4974-AC2B-977373F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准确率之外评估隐私泄露和遗忘程度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747EC-3C0F-4426-81BD-B4499068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1F5B1-B056-4F83-9849-06C40626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BFDC-5C7F-4FEA-958D-EA99576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19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验证 Retain-Aware BT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4F95A-33BE-44BE-9789-54DA3342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比较遗忘效果、保留能力和运行成本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AE825-8BE4-4719-99ED-5C77F94E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5F99"/>
                </a:solidFill>
              </a:defRPr>
            </a:pPr>
            <a:r>
              <a:rPr sz="1875" b="1">
                <a:solidFill>
                  <a:srgbClr val="1F5F99"/>
                </a:solidFill>
              </a:rPr>
              <a:t>明天汇报到研究设计即可；最终大报告补实验表、图和局限性讨论。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D5DBA-BD9A-4743-A1DF-EEC0989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隐私保护 · 机器逆学习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4EBB7-FB27-4580-B435-44FEFE1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9816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2026-07-15T10:24:11.6250000Z</dcterms:created>
  <dcterms:modified xsi:type="dcterms:W3CDTF">2026-07-15T10:24:11.6250000Z</dcterms:modified>
</coreProperties>
</file>